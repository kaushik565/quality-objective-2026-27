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336" r:id="rId2"/>
    <p:sldId id="333" r:id="rId3"/>
    <p:sldId id="338" r:id="rId4"/>
    <p:sldId id="339" r:id="rId5"/>
    <p:sldId id="340" r:id="rId6"/>
    <p:sldId id="331" r:id="rId7"/>
    <p:sldId id="335" r:id="rId8"/>
    <p:sldId id="332" r:id="rId9"/>
  </p:sldIdLst>
  <p:sldSz cx="12192000" cy="6858000"/>
  <p:notesSz cx="6858000" cy="9144000"/>
  <p:embeddedFontLst>
    <p:embeddedFont>
      <p:font typeface="Play" panose="020B0604020202020204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57DFCA12-4101-4581-AFB0-5582DE754451}">
          <p14:sldIdLst>
            <p14:sldId id="336"/>
            <p14:sldId id="333"/>
            <p14:sldId id="338"/>
            <p14:sldId id="339"/>
            <p14:sldId id="340"/>
            <p14:sldId id="331"/>
            <p14:sldId id="335"/>
            <p14:sldId id="332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jK/f0yF47howWSMNRx1t7ZxO97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F5EE"/>
    <a:srgbClr val="F74937"/>
    <a:srgbClr val="F5D9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78" autoAdjust="0"/>
    <p:restoredTop sz="94660"/>
  </p:normalViewPr>
  <p:slideViewPr>
    <p:cSldViewPr snapToGrid="0">
      <p:cViewPr varScale="1">
        <p:scale>
          <a:sx n="72" d="100"/>
          <a:sy n="72" d="100"/>
        </p:scale>
        <p:origin x="6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eff481cfaf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g2eff481cfaf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856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eff481cfaf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g2eff481cfaf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2864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eff481cfaf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g2eff481cfaf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92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eff481cfaf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g2eff481cfaf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4517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eff481cfaf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g2eff481cfaf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5948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eff481cfaf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g2eff481cfaf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7407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eff481cfaf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g2eff481cfaf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1126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eff481cfaf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g2eff481cfaf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4482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g2eff481cfaf_2_18" descr="A red and white fla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1564"/>
            <a:ext cx="12290395" cy="6816436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2eff481cfaf_2_18"/>
          <p:cNvSpPr txBox="1"/>
          <p:nvPr/>
        </p:nvSpPr>
        <p:spPr>
          <a:xfrm>
            <a:off x="5625985" y="-410059"/>
            <a:ext cx="6713639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600" dirty="0">
              <a:solidFill>
                <a:schemeClr val="dk1"/>
              </a:solidFill>
            </a:endParaRPr>
          </a:p>
          <a:p>
            <a:r>
              <a:rPr lang="en-US" sz="4400" b="1" dirty="0">
                <a:solidFill>
                  <a:schemeClr val="bg1"/>
                </a:solidFill>
              </a:rPr>
              <a:t>       </a:t>
            </a:r>
            <a:r>
              <a:rPr lang="en-US" sz="2800" b="1" dirty="0">
                <a:solidFill>
                  <a:schemeClr val="bg1"/>
                </a:solidFill>
              </a:rPr>
              <a:t>Line clearance/Closure/Re-Verification data (Device &amp; Cartridge)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80" name="Google Shape;480;g2eff481cfaf_2_18"/>
          <p:cNvSpPr txBox="1"/>
          <p:nvPr/>
        </p:nvSpPr>
        <p:spPr>
          <a:xfrm>
            <a:off x="846825" y="4754200"/>
            <a:ext cx="10261200" cy="12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026" name="Picture 2" descr="https://ci3.googleusercontent.com/meips/ADKq_NYoWiyCxIBqXhvayEyoxq9RdqOFqxTu5zYVWWPmrNV2i6HjGtBI5ZIGmLgb8GS-P9z___3MejWcSMXcOtakV5I2Jx_qBa-jgUgiWCxeHnZMfcTzixwuqAXJ=s0-d-e1-ft#https://new.molbiodiagnostics.com/mailSignature/png/Molbio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57" y="91648"/>
            <a:ext cx="1517946" cy="76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38BAC3-93AF-201E-6A37-D5FACF61C4B8}"/>
              </a:ext>
            </a:extLst>
          </p:cNvPr>
          <p:cNvGraphicFramePr>
            <a:graphicFrameLocks noGrp="1"/>
          </p:cNvGraphicFramePr>
          <p:nvPr/>
        </p:nvGraphicFramePr>
        <p:xfrm>
          <a:off x="10959" y="1354670"/>
          <a:ext cx="12065513" cy="5031222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388614">
                  <a:extLst>
                    <a:ext uri="{9D8B030D-6E8A-4147-A177-3AD203B41FA5}">
                      <a16:colId xmlns:a16="http://schemas.microsoft.com/office/drawing/2014/main" val="1876070391"/>
                    </a:ext>
                  </a:extLst>
                </a:gridCol>
                <a:gridCol w="1443316">
                  <a:extLst>
                    <a:ext uri="{9D8B030D-6E8A-4147-A177-3AD203B41FA5}">
                      <a16:colId xmlns:a16="http://schemas.microsoft.com/office/drawing/2014/main" val="337399484"/>
                    </a:ext>
                  </a:extLst>
                </a:gridCol>
                <a:gridCol w="1525322">
                  <a:extLst>
                    <a:ext uri="{9D8B030D-6E8A-4147-A177-3AD203B41FA5}">
                      <a16:colId xmlns:a16="http://schemas.microsoft.com/office/drawing/2014/main" val="1279832347"/>
                    </a:ext>
                  </a:extLst>
                </a:gridCol>
                <a:gridCol w="1723232">
                  <a:extLst>
                    <a:ext uri="{9D8B030D-6E8A-4147-A177-3AD203B41FA5}">
                      <a16:colId xmlns:a16="http://schemas.microsoft.com/office/drawing/2014/main" val="1910632586"/>
                    </a:ext>
                  </a:extLst>
                </a:gridCol>
                <a:gridCol w="1695992">
                  <a:extLst>
                    <a:ext uri="{9D8B030D-6E8A-4147-A177-3AD203B41FA5}">
                      <a16:colId xmlns:a16="http://schemas.microsoft.com/office/drawing/2014/main" val="2279889083"/>
                    </a:ext>
                  </a:extLst>
                </a:gridCol>
                <a:gridCol w="1944004">
                  <a:extLst>
                    <a:ext uri="{9D8B030D-6E8A-4147-A177-3AD203B41FA5}">
                      <a16:colId xmlns:a16="http://schemas.microsoft.com/office/drawing/2014/main" val="3576203090"/>
                    </a:ext>
                  </a:extLst>
                </a:gridCol>
                <a:gridCol w="1345033">
                  <a:extLst>
                    <a:ext uri="{9D8B030D-6E8A-4147-A177-3AD203B41FA5}">
                      <a16:colId xmlns:a16="http://schemas.microsoft.com/office/drawing/2014/main" val="241187138"/>
                    </a:ext>
                  </a:extLst>
                </a:gridCol>
              </a:tblGrid>
              <a:tr h="7233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sz="2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Description </a:t>
                      </a:r>
                      <a:endParaRPr lang="en-IN" sz="2000" b="1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169" marR="7169" marT="7169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July</a:t>
                      </a:r>
                      <a:endParaRPr lang="en-IN" sz="2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169" marR="7169" marT="7169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August </a:t>
                      </a:r>
                      <a:endParaRPr lang="en-IN" sz="2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169" marR="7169" marT="7169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September </a:t>
                      </a:r>
                      <a:endParaRPr lang="en-IN" sz="2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169" marR="7169" marT="7169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October </a:t>
                      </a:r>
                      <a:endParaRPr lang="en-IN" sz="2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169" marR="7169" marT="7169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November </a:t>
                      </a:r>
                      <a:endParaRPr lang="en-IN" sz="2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169" marR="7169" marT="7169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 Qty (Nos)</a:t>
                      </a:r>
                      <a:endParaRPr lang="en-IN" sz="2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169" marR="7169" marT="7169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97161"/>
                  </a:ext>
                </a:extLst>
              </a:tr>
              <a:tr h="51584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Line Clearance -Approved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69" marR="7169" marT="716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670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690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338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249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517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2464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65774"/>
                  </a:ext>
                </a:extLst>
              </a:tr>
              <a:tr h="51584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Line Clearance - Not Approved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69" marR="7169" marT="716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0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11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06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04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08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29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726871"/>
                  </a:ext>
                </a:extLst>
              </a:tr>
              <a:tr h="42900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Line Closure- Approved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69" marR="7169" marT="716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653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673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385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243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505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2459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944070"/>
                  </a:ext>
                </a:extLst>
              </a:tr>
              <a:tr h="48024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Line Closure- Not Approved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69" marR="7169" marT="716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0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08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06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05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10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29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17473"/>
                  </a:ext>
                </a:extLst>
              </a:tr>
              <a:tr h="48024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Line Reverification - Approved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69" marR="7169" marT="716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 515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993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975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883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1055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4421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702365"/>
                  </a:ext>
                </a:extLst>
              </a:tr>
              <a:tr h="48024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Line Reverification - Not Approved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69" marR="7169" marT="716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0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12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06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07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09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>
                          <a:effectLst/>
                        </a:rPr>
                        <a:t>34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820123"/>
                  </a:ext>
                </a:extLst>
              </a:tr>
              <a:tr h="68129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Line Verification - Approved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69" marR="7169" marT="716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>
                          <a:solidFill>
                            <a:srgbClr val="FF0000"/>
                          </a:solidFill>
                          <a:effectLst/>
                        </a:rPr>
                        <a:t>1023</a:t>
                      </a: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>
                          <a:solidFill>
                            <a:srgbClr val="FF0000"/>
                          </a:solidFill>
                          <a:effectLst/>
                        </a:rPr>
                        <a:t>1201</a:t>
                      </a: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>
                          <a:solidFill>
                            <a:srgbClr val="FF0000"/>
                          </a:solidFill>
                          <a:effectLst/>
                        </a:rPr>
                        <a:t>1256</a:t>
                      </a: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>
                          <a:effectLst/>
                        </a:rPr>
                        <a:t>1318</a:t>
                      </a: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>
                          <a:effectLst/>
                        </a:rPr>
                        <a:t>1392</a:t>
                      </a: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>
                          <a:effectLst/>
                        </a:rPr>
                        <a:t>6190</a:t>
                      </a: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586111"/>
                  </a:ext>
                </a:extLst>
              </a:tr>
              <a:tr h="681299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Line Verification - Not Approved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69" marR="7169" marT="716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>
                          <a:effectLst/>
                        </a:rPr>
                        <a:t>01</a:t>
                      </a: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>
                          <a:effectLst/>
                        </a:rPr>
                        <a:t>01</a:t>
                      </a: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602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002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g2eff481cfaf_2_18" descr="A red and white fla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1564"/>
            <a:ext cx="12290395" cy="6816436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2eff481cfaf_2_18"/>
          <p:cNvSpPr txBox="1"/>
          <p:nvPr/>
        </p:nvSpPr>
        <p:spPr>
          <a:xfrm>
            <a:off x="6466704" y="-171725"/>
            <a:ext cx="5609768" cy="129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r>
              <a:rPr lang="en-US" sz="4000" b="1" dirty="0">
                <a:solidFill>
                  <a:schemeClr val="bg1"/>
                </a:solidFill>
              </a:rPr>
              <a:t>       </a:t>
            </a:r>
            <a:r>
              <a:rPr lang="en-US" sz="2000" b="1" dirty="0" err="1">
                <a:solidFill>
                  <a:schemeClr val="bg1"/>
                </a:solidFill>
              </a:rPr>
              <a:t>Avg</a:t>
            </a:r>
            <a:r>
              <a:rPr lang="en-US" sz="2000" b="1" dirty="0">
                <a:solidFill>
                  <a:schemeClr val="bg1"/>
                </a:solidFill>
              </a:rPr>
              <a:t> time taken for </a:t>
            </a:r>
            <a:r>
              <a:rPr lang="en-US" sz="2400" b="1" dirty="0">
                <a:solidFill>
                  <a:schemeClr val="bg1"/>
                </a:solidFill>
              </a:rPr>
              <a:t>clearance/Closure/Re-verification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80" name="Google Shape;480;g2eff481cfaf_2_18"/>
          <p:cNvSpPr txBox="1"/>
          <p:nvPr/>
        </p:nvSpPr>
        <p:spPr>
          <a:xfrm>
            <a:off x="846825" y="4754200"/>
            <a:ext cx="10261200" cy="12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026" name="Picture 2" descr="https://ci3.googleusercontent.com/meips/ADKq_NYoWiyCxIBqXhvayEyoxq9RdqOFqxTu5zYVWWPmrNV2i6HjGtBI5ZIGmLgb8GS-P9z___3MejWcSMXcOtakV5I2Jx_qBa-jgUgiWCxeHnZMfcTzixwuqAXJ=s0-d-e1-ft#https://new.molbiodiagnostics.com/mailSignature/png/Molbio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57" y="91648"/>
            <a:ext cx="1517946" cy="76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96578"/>
              </p:ext>
            </p:extLst>
          </p:nvPr>
        </p:nvGraphicFramePr>
        <p:xfrm>
          <a:off x="444845" y="1376410"/>
          <a:ext cx="11747155" cy="49584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5772">
                  <a:extLst>
                    <a:ext uri="{9D8B030D-6E8A-4147-A177-3AD203B41FA5}">
                      <a16:colId xmlns:a16="http://schemas.microsoft.com/office/drawing/2014/main" val="3403088102"/>
                    </a:ext>
                  </a:extLst>
                </a:gridCol>
                <a:gridCol w="1313685">
                  <a:extLst>
                    <a:ext uri="{9D8B030D-6E8A-4147-A177-3AD203B41FA5}">
                      <a16:colId xmlns:a16="http://schemas.microsoft.com/office/drawing/2014/main" val="2198852673"/>
                    </a:ext>
                  </a:extLst>
                </a:gridCol>
                <a:gridCol w="617398">
                  <a:extLst>
                    <a:ext uri="{9D8B030D-6E8A-4147-A177-3AD203B41FA5}">
                      <a16:colId xmlns:a16="http://schemas.microsoft.com/office/drawing/2014/main" val="255904983"/>
                    </a:ext>
                  </a:extLst>
                </a:gridCol>
                <a:gridCol w="509354">
                  <a:extLst>
                    <a:ext uri="{9D8B030D-6E8A-4147-A177-3AD203B41FA5}">
                      <a16:colId xmlns:a16="http://schemas.microsoft.com/office/drawing/2014/main" val="3692524361"/>
                    </a:ext>
                  </a:extLst>
                </a:gridCol>
                <a:gridCol w="617398">
                  <a:extLst>
                    <a:ext uri="{9D8B030D-6E8A-4147-A177-3AD203B41FA5}">
                      <a16:colId xmlns:a16="http://schemas.microsoft.com/office/drawing/2014/main" val="1651240562"/>
                    </a:ext>
                  </a:extLst>
                </a:gridCol>
                <a:gridCol w="1203928">
                  <a:extLst>
                    <a:ext uri="{9D8B030D-6E8A-4147-A177-3AD203B41FA5}">
                      <a16:colId xmlns:a16="http://schemas.microsoft.com/office/drawing/2014/main" val="335068771"/>
                    </a:ext>
                  </a:extLst>
                </a:gridCol>
                <a:gridCol w="617398">
                  <a:extLst>
                    <a:ext uri="{9D8B030D-6E8A-4147-A177-3AD203B41FA5}">
                      <a16:colId xmlns:a16="http://schemas.microsoft.com/office/drawing/2014/main" val="2327118284"/>
                    </a:ext>
                  </a:extLst>
                </a:gridCol>
                <a:gridCol w="617398">
                  <a:extLst>
                    <a:ext uri="{9D8B030D-6E8A-4147-A177-3AD203B41FA5}">
                      <a16:colId xmlns:a16="http://schemas.microsoft.com/office/drawing/2014/main" val="3644177473"/>
                    </a:ext>
                  </a:extLst>
                </a:gridCol>
                <a:gridCol w="617398">
                  <a:extLst>
                    <a:ext uri="{9D8B030D-6E8A-4147-A177-3AD203B41FA5}">
                      <a16:colId xmlns:a16="http://schemas.microsoft.com/office/drawing/2014/main" val="3770086039"/>
                    </a:ext>
                  </a:extLst>
                </a:gridCol>
                <a:gridCol w="1203928">
                  <a:extLst>
                    <a:ext uri="{9D8B030D-6E8A-4147-A177-3AD203B41FA5}">
                      <a16:colId xmlns:a16="http://schemas.microsoft.com/office/drawing/2014/main" val="3703321640"/>
                    </a:ext>
                  </a:extLst>
                </a:gridCol>
                <a:gridCol w="509354">
                  <a:extLst>
                    <a:ext uri="{9D8B030D-6E8A-4147-A177-3AD203B41FA5}">
                      <a16:colId xmlns:a16="http://schemas.microsoft.com/office/drawing/2014/main" val="3302586241"/>
                    </a:ext>
                  </a:extLst>
                </a:gridCol>
                <a:gridCol w="509354">
                  <a:extLst>
                    <a:ext uri="{9D8B030D-6E8A-4147-A177-3AD203B41FA5}">
                      <a16:colId xmlns:a16="http://schemas.microsoft.com/office/drawing/2014/main" val="3739765989"/>
                    </a:ext>
                  </a:extLst>
                </a:gridCol>
                <a:gridCol w="524790">
                  <a:extLst>
                    <a:ext uri="{9D8B030D-6E8A-4147-A177-3AD203B41FA5}">
                      <a16:colId xmlns:a16="http://schemas.microsoft.com/office/drawing/2014/main" val="4003466916"/>
                    </a:ext>
                  </a:extLst>
                </a:gridCol>
              </a:tblGrid>
              <a:tr h="60102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Description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Average time for Line Clearance (</a:t>
                      </a:r>
                      <a:r>
                        <a:rPr lang="en-US" sz="1200" b="1" u="none" strike="noStrike" dirty="0" err="1">
                          <a:effectLst/>
                        </a:rPr>
                        <a:t>Mins</a:t>
                      </a:r>
                      <a:r>
                        <a:rPr lang="en-US" sz="1200" b="1" u="none" strike="noStrike" dirty="0">
                          <a:effectLst/>
                        </a:rPr>
                        <a:t>.)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</a:rPr>
                        <a:t>Average time for Line closure (Mins.)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Average time for Line Re-Verification (</a:t>
                      </a:r>
                      <a:r>
                        <a:rPr lang="en-US" sz="1200" b="1" u="none" strike="noStrike" dirty="0" err="1">
                          <a:effectLst/>
                        </a:rPr>
                        <a:t>Mins</a:t>
                      </a:r>
                      <a:r>
                        <a:rPr lang="en-US" sz="1200" b="1" u="none" strike="noStrike" dirty="0">
                          <a:effectLst/>
                        </a:rPr>
                        <a:t>.)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101590"/>
                  </a:ext>
                </a:extLst>
              </a:tr>
              <a:tr h="5663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Jan to Aug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Sep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Oct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Nov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Jan to Aug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Sep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Oct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Nov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Jan to Aug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Sep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Oct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Nov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068474"/>
                  </a:ext>
                </a:extLst>
              </a:tr>
              <a:tr h="2773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 dirty="0">
                          <a:effectLst/>
                        </a:rPr>
                        <a:t>QR CODE GENERATION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6:25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6:24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5:06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6:07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5:27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5:48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5:26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5:37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5:27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6:12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4:00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7:00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491303"/>
                  </a:ext>
                </a:extLst>
              </a:tr>
              <a:tr h="2773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 dirty="0">
                          <a:effectLst/>
                        </a:rPr>
                        <a:t>QR PASTING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6:15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5:51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5:33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6:06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6:39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6:05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4:43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5:13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6:39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6:55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5:34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5:30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46673"/>
                  </a:ext>
                </a:extLst>
              </a:tr>
              <a:tr h="2889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 dirty="0">
                          <a:effectLst/>
                        </a:rPr>
                        <a:t>GROMMET FIXING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6:11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6:30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5:14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5:43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6:41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5:42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5:20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7:09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6:41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5:00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5:11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5:57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732796"/>
                  </a:ext>
                </a:extLst>
              </a:tr>
              <a:tr h="2773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>
                          <a:effectLst/>
                        </a:rPr>
                        <a:t>SMILEY ASSEMBLY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6:20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6:13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5:09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6:22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6:27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5:39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6:39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5:43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6:27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5:39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4:37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5:38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542612"/>
                  </a:ext>
                </a:extLst>
              </a:tr>
              <a:tr h="2773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>
                          <a:effectLst/>
                        </a:rPr>
                        <a:t>Sample filter washing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5:57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6:26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5:10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8:00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4:30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4:43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6:22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5:20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4:30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NA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NA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NA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259208"/>
                  </a:ext>
                </a:extLst>
              </a:tr>
              <a:tr h="2773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>
                          <a:effectLst/>
                        </a:rPr>
                        <a:t>Sample filter heating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6:05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6:00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6:00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6:22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3:40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6:00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5:12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5:22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3:40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3:00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6:00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5:00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29491"/>
                  </a:ext>
                </a:extLst>
              </a:tr>
              <a:tr h="5201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>
                          <a:effectLst/>
                        </a:rPr>
                        <a:t>Dump to annealing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8:59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8:33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9:12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11:02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8:15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11:10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10:22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13:44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8:15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6:19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5:52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6:01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108000"/>
                  </a:ext>
                </a:extLst>
              </a:tr>
              <a:tr h="5201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>
                          <a:effectLst/>
                        </a:rPr>
                        <a:t>Matrix pallet filling to pouch packing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10:28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10:45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8:55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10:17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9:08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10:12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10:38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11:33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9:08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7:03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6:32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6:56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866656"/>
                  </a:ext>
                </a:extLst>
              </a:tr>
              <a:tr h="2773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>
                          <a:effectLst/>
                        </a:rPr>
                        <a:t>Rework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8:09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5:00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9:00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5:47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9:02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5:30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5:00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5:32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9:02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5:00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3:00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6:00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1816"/>
                  </a:ext>
                </a:extLst>
              </a:tr>
              <a:tr h="2773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>
                          <a:effectLst/>
                        </a:rPr>
                        <a:t>Packing verification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NA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NA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NA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NA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NA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NA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NA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NA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6:39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5:45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5:19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6:05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78258"/>
                  </a:ext>
                </a:extLst>
              </a:tr>
              <a:tr h="5201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 dirty="0">
                          <a:effectLst/>
                        </a:rPr>
                        <a:t>LINE-G (Automation line)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NA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NA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NA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13:00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NA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NA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NA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12:00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NA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NA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NA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4:30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641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1686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g2eff481cfaf_2_18" descr="A red and white fla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1564"/>
            <a:ext cx="12290395" cy="6816436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2eff481cfaf_2_18"/>
          <p:cNvSpPr txBox="1"/>
          <p:nvPr/>
        </p:nvSpPr>
        <p:spPr>
          <a:xfrm>
            <a:off x="6466704" y="-171725"/>
            <a:ext cx="5609768" cy="129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r>
              <a:rPr lang="en-US" sz="4000" b="1" dirty="0">
                <a:solidFill>
                  <a:schemeClr val="bg1"/>
                </a:solidFill>
              </a:rPr>
              <a:t>       </a:t>
            </a:r>
            <a:r>
              <a:rPr lang="en-US" sz="2000" b="1" dirty="0" err="1">
                <a:solidFill>
                  <a:schemeClr val="bg1"/>
                </a:solidFill>
              </a:rPr>
              <a:t>Avg</a:t>
            </a:r>
            <a:r>
              <a:rPr lang="en-US" sz="2000" b="1" dirty="0">
                <a:solidFill>
                  <a:schemeClr val="bg1"/>
                </a:solidFill>
              </a:rPr>
              <a:t> time taken for </a:t>
            </a:r>
            <a:r>
              <a:rPr lang="en-US" sz="2400" b="1" dirty="0">
                <a:solidFill>
                  <a:schemeClr val="bg1"/>
                </a:solidFill>
              </a:rPr>
              <a:t>clearance/Closure/Re-verification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80" name="Google Shape;480;g2eff481cfaf_2_18"/>
          <p:cNvSpPr txBox="1"/>
          <p:nvPr/>
        </p:nvSpPr>
        <p:spPr>
          <a:xfrm>
            <a:off x="846825" y="4754200"/>
            <a:ext cx="10261200" cy="12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026" name="Picture 2" descr="https://ci3.googleusercontent.com/meips/ADKq_NYoWiyCxIBqXhvayEyoxq9RdqOFqxTu5zYVWWPmrNV2i6HjGtBI5ZIGmLgb8GS-P9z___3MejWcSMXcOtakV5I2Jx_qBa-jgUgiWCxeHnZMfcTzixwuqAXJ=s0-d-e1-ft#https://new.molbiodiagnostics.com/mailSignature/png/Molbio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57" y="91648"/>
            <a:ext cx="1517946" cy="76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374377"/>
              </p:ext>
            </p:extLst>
          </p:nvPr>
        </p:nvGraphicFramePr>
        <p:xfrm>
          <a:off x="444845" y="1431537"/>
          <a:ext cx="11578132" cy="46055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7392">
                  <a:extLst>
                    <a:ext uri="{9D8B030D-6E8A-4147-A177-3AD203B41FA5}">
                      <a16:colId xmlns:a16="http://schemas.microsoft.com/office/drawing/2014/main" val="3403088102"/>
                    </a:ext>
                  </a:extLst>
                </a:gridCol>
                <a:gridCol w="1300765">
                  <a:extLst>
                    <a:ext uri="{9D8B030D-6E8A-4147-A177-3AD203B41FA5}">
                      <a16:colId xmlns:a16="http://schemas.microsoft.com/office/drawing/2014/main" val="2198852673"/>
                    </a:ext>
                  </a:extLst>
                </a:gridCol>
                <a:gridCol w="611326">
                  <a:extLst>
                    <a:ext uri="{9D8B030D-6E8A-4147-A177-3AD203B41FA5}">
                      <a16:colId xmlns:a16="http://schemas.microsoft.com/office/drawing/2014/main" val="255904983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3692524361"/>
                    </a:ext>
                  </a:extLst>
                </a:gridCol>
                <a:gridCol w="611326">
                  <a:extLst>
                    <a:ext uri="{9D8B030D-6E8A-4147-A177-3AD203B41FA5}">
                      <a16:colId xmlns:a16="http://schemas.microsoft.com/office/drawing/2014/main" val="1651240562"/>
                    </a:ext>
                  </a:extLst>
                </a:gridCol>
                <a:gridCol w="1192088">
                  <a:extLst>
                    <a:ext uri="{9D8B030D-6E8A-4147-A177-3AD203B41FA5}">
                      <a16:colId xmlns:a16="http://schemas.microsoft.com/office/drawing/2014/main" val="335068771"/>
                    </a:ext>
                  </a:extLst>
                </a:gridCol>
                <a:gridCol w="611326">
                  <a:extLst>
                    <a:ext uri="{9D8B030D-6E8A-4147-A177-3AD203B41FA5}">
                      <a16:colId xmlns:a16="http://schemas.microsoft.com/office/drawing/2014/main" val="2327118284"/>
                    </a:ext>
                  </a:extLst>
                </a:gridCol>
                <a:gridCol w="611326">
                  <a:extLst>
                    <a:ext uri="{9D8B030D-6E8A-4147-A177-3AD203B41FA5}">
                      <a16:colId xmlns:a16="http://schemas.microsoft.com/office/drawing/2014/main" val="3644177473"/>
                    </a:ext>
                  </a:extLst>
                </a:gridCol>
                <a:gridCol w="611326">
                  <a:extLst>
                    <a:ext uri="{9D8B030D-6E8A-4147-A177-3AD203B41FA5}">
                      <a16:colId xmlns:a16="http://schemas.microsoft.com/office/drawing/2014/main" val="3770086039"/>
                    </a:ext>
                  </a:extLst>
                </a:gridCol>
                <a:gridCol w="1192088">
                  <a:extLst>
                    <a:ext uri="{9D8B030D-6E8A-4147-A177-3AD203B41FA5}">
                      <a16:colId xmlns:a16="http://schemas.microsoft.com/office/drawing/2014/main" val="3703321640"/>
                    </a:ext>
                  </a:extLst>
                </a:gridCol>
                <a:gridCol w="504345">
                  <a:extLst>
                    <a:ext uri="{9D8B030D-6E8A-4147-A177-3AD203B41FA5}">
                      <a16:colId xmlns:a16="http://schemas.microsoft.com/office/drawing/2014/main" val="3302586241"/>
                    </a:ext>
                  </a:extLst>
                </a:gridCol>
                <a:gridCol w="504345">
                  <a:extLst>
                    <a:ext uri="{9D8B030D-6E8A-4147-A177-3AD203B41FA5}">
                      <a16:colId xmlns:a16="http://schemas.microsoft.com/office/drawing/2014/main" val="3739765989"/>
                    </a:ext>
                  </a:extLst>
                </a:gridCol>
                <a:gridCol w="519629">
                  <a:extLst>
                    <a:ext uri="{9D8B030D-6E8A-4147-A177-3AD203B41FA5}">
                      <a16:colId xmlns:a16="http://schemas.microsoft.com/office/drawing/2014/main" val="4003466916"/>
                    </a:ext>
                  </a:extLst>
                </a:gridCol>
              </a:tblGrid>
              <a:tr h="44113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Description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Average time for Line Clearance (</a:t>
                      </a:r>
                      <a:r>
                        <a:rPr lang="en-US" sz="1200" b="1" u="none" strike="noStrike" dirty="0" err="1">
                          <a:effectLst/>
                        </a:rPr>
                        <a:t>Mins</a:t>
                      </a:r>
                      <a:r>
                        <a:rPr lang="en-US" sz="1200" b="1" u="none" strike="noStrike" dirty="0">
                          <a:effectLst/>
                        </a:rPr>
                        <a:t>.)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Average time for Line closure (</a:t>
                      </a:r>
                      <a:r>
                        <a:rPr lang="en-US" sz="1200" b="1" u="none" strike="noStrike" dirty="0" err="1">
                          <a:effectLst/>
                        </a:rPr>
                        <a:t>Mins</a:t>
                      </a:r>
                      <a:r>
                        <a:rPr lang="en-US" sz="1200" b="1" u="none" strike="noStrike" dirty="0">
                          <a:effectLst/>
                        </a:rPr>
                        <a:t>.)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Average time for Line Re-Verification (</a:t>
                      </a:r>
                      <a:r>
                        <a:rPr lang="en-US" sz="1200" b="1" u="none" strike="noStrike" dirty="0" err="1">
                          <a:effectLst/>
                        </a:rPr>
                        <a:t>Mins</a:t>
                      </a:r>
                      <a:r>
                        <a:rPr lang="en-US" sz="1200" b="1" u="none" strike="noStrike" dirty="0">
                          <a:effectLst/>
                        </a:rPr>
                        <a:t>.)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101590"/>
                  </a:ext>
                </a:extLst>
              </a:tr>
              <a:tr h="4156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Jan to Aug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Sep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Oct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Nov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Jan to Aug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Sep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Oct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Nov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Jan to Aug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Sep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Oct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Nov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068474"/>
                  </a:ext>
                </a:extLst>
              </a:tr>
              <a:tr h="203601">
                <a:tc gridSpan="13">
                  <a:txBody>
                    <a:bodyPr/>
                    <a:lstStyle/>
                    <a:p>
                      <a:pPr lvl="1"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Assembly of Rapid cell Lysis system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491303"/>
                  </a:ext>
                </a:extLst>
              </a:tr>
              <a:tr h="2410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400" dirty="0">
                          <a:effectLst/>
                          <a:latin typeface="+mn-lt"/>
                        </a:rPr>
                        <a:t>Door mechanism assembly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4:08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3:02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4:53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4:02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5:06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4:05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5:03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4:04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46673"/>
                  </a:ext>
                </a:extLst>
              </a:tr>
              <a:tr h="2410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400" dirty="0">
                          <a:effectLst/>
                          <a:latin typeface="+mn-lt"/>
                        </a:rPr>
                        <a:t>Final assembly and labeling 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3:04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3:05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4:03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3:04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4:09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4:12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3:08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732796"/>
                  </a:ext>
                </a:extLst>
              </a:tr>
              <a:tr h="2410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400" dirty="0">
                          <a:effectLst/>
                          <a:latin typeface="+mn-lt"/>
                        </a:rPr>
                        <a:t>Integration testing 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2:10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2:04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2:08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3:06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2:12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2:11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1:11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542612"/>
                  </a:ext>
                </a:extLst>
              </a:tr>
              <a:tr h="203601">
                <a:tc gridSpan="13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Assembly of Two bay PCR Machine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259208"/>
                  </a:ext>
                </a:extLst>
              </a:tr>
              <a:tr h="2466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Final assembly and labelling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5:13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3:03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4:12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7:22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4:23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3:11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5:11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2:10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2:07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29491"/>
                  </a:ext>
                </a:extLst>
              </a:tr>
              <a:tr h="24108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Bottom cover and top cover 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5:02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4:27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7:09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10:03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4:21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8:10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2:08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2:10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108000"/>
                  </a:ext>
                </a:extLst>
              </a:tr>
              <a:tr h="24108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AFC TESTING 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8:05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7:18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6:12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8:53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4:15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9:32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2:09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1:02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866656"/>
                  </a:ext>
                </a:extLst>
              </a:tr>
              <a:tr h="2410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Packing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6:03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5:12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4:14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2:13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5:08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2:32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2:08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1:17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1816"/>
                  </a:ext>
                </a:extLst>
              </a:tr>
              <a:tr h="2672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case closing and labelling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4:23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3:20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8:42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4:21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2:12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78258"/>
                  </a:ext>
                </a:extLst>
              </a:tr>
              <a:tr h="25167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Dye Testing Duo rework line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2:56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2:16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5:03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3:11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4:32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1:15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641323"/>
                  </a:ext>
                </a:extLst>
              </a:tr>
              <a:tr h="3187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Mechanism with Optics Assembly 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2:21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4:35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2:16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2:12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055401"/>
                  </a:ext>
                </a:extLst>
              </a:tr>
              <a:tr h="32717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Optics sub assembly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6:02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3:24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3:19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5:11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5:26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1:14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44649"/>
                  </a:ext>
                </a:extLst>
              </a:tr>
              <a:tr h="38175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Top and bottom cover assembly 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8:01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5:16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4:24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6:13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1:58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1:14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30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950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g2eff481cfaf_2_18" descr="A red and white fla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1564"/>
            <a:ext cx="12290395" cy="6816436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2eff481cfaf_2_18"/>
          <p:cNvSpPr txBox="1"/>
          <p:nvPr/>
        </p:nvSpPr>
        <p:spPr>
          <a:xfrm>
            <a:off x="6466704" y="-171725"/>
            <a:ext cx="5609768" cy="129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r>
              <a:rPr lang="en-US" sz="4000" b="1" dirty="0">
                <a:solidFill>
                  <a:schemeClr val="bg1"/>
                </a:solidFill>
              </a:rPr>
              <a:t>       </a:t>
            </a:r>
            <a:r>
              <a:rPr lang="en-US" sz="2000" b="1" dirty="0" err="1">
                <a:solidFill>
                  <a:schemeClr val="bg1"/>
                </a:solidFill>
              </a:rPr>
              <a:t>Avg</a:t>
            </a:r>
            <a:r>
              <a:rPr lang="en-US" sz="2000" b="1" dirty="0">
                <a:solidFill>
                  <a:schemeClr val="bg1"/>
                </a:solidFill>
              </a:rPr>
              <a:t> time taken for </a:t>
            </a:r>
            <a:r>
              <a:rPr lang="en-US" sz="2400" b="1" dirty="0">
                <a:solidFill>
                  <a:schemeClr val="bg1"/>
                </a:solidFill>
              </a:rPr>
              <a:t>clearance/Closure/Re-verification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80" name="Google Shape;480;g2eff481cfaf_2_18"/>
          <p:cNvSpPr txBox="1"/>
          <p:nvPr/>
        </p:nvSpPr>
        <p:spPr>
          <a:xfrm>
            <a:off x="846825" y="4754200"/>
            <a:ext cx="10261200" cy="12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026" name="Picture 2" descr="https://ci3.googleusercontent.com/meips/ADKq_NYoWiyCxIBqXhvayEyoxq9RdqOFqxTu5zYVWWPmrNV2i6HjGtBI5ZIGmLgb8GS-P9z___3MejWcSMXcOtakV5I2Jx_qBa-jgUgiWCxeHnZMfcTzixwuqAXJ=s0-d-e1-ft#https://new.molbiodiagnostics.com/mailSignature/png/Molbio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57" y="91648"/>
            <a:ext cx="1517946" cy="76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072494"/>
              </p:ext>
            </p:extLst>
          </p:nvPr>
        </p:nvGraphicFramePr>
        <p:xfrm>
          <a:off x="444845" y="1431537"/>
          <a:ext cx="11631627" cy="46802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7392">
                  <a:extLst>
                    <a:ext uri="{9D8B030D-6E8A-4147-A177-3AD203B41FA5}">
                      <a16:colId xmlns:a16="http://schemas.microsoft.com/office/drawing/2014/main" val="3403088102"/>
                    </a:ext>
                  </a:extLst>
                </a:gridCol>
                <a:gridCol w="1300765">
                  <a:extLst>
                    <a:ext uri="{9D8B030D-6E8A-4147-A177-3AD203B41FA5}">
                      <a16:colId xmlns:a16="http://schemas.microsoft.com/office/drawing/2014/main" val="2198852673"/>
                    </a:ext>
                  </a:extLst>
                </a:gridCol>
                <a:gridCol w="611326">
                  <a:extLst>
                    <a:ext uri="{9D8B030D-6E8A-4147-A177-3AD203B41FA5}">
                      <a16:colId xmlns:a16="http://schemas.microsoft.com/office/drawing/2014/main" val="255904983"/>
                    </a:ext>
                  </a:extLst>
                </a:gridCol>
                <a:gridCol w="504345">
                  <a:extLst>
                    <a:ext uri="{9D8B030D-6E8A-4147-A177-3AD203B41FA5}">
                      <a16:colId xmlns:a16="http://schemas.microsoft.com/office/drawing/2014/main" val="3692524361"/>
                    </a:ext>
                  </a:extLst>
                </a:gridCol>
                <a:gridCol w="611326">
                  <a:extLst>
                    <a:ext uri="{9D8B030D-6E8A-4147-A177-3AD203B41FA5}">
                      <a16:colId xmlns:a16="http://schemas.microsoft.com/office/drawing/2014/main" val="1651240562"/>
                    </a:ext>
                  </a:extLst>
                </a:gridCol>
                <a:gridCol w="1192088">
                  <a:extLst>
                    <a:ext uri="{9D8B030D-6E8A-4147-A177-3AD203B41FA5}">
                      <a16:colId xmlns:a16="http://schemas.microsoft.com/office/drawing/2014/main" val="335068771"/>
                    </a:ext>
                  </a:extLst>
                </a:gridCol>
                <a:gridCol w="611326">
                  <a:extLst>
                    <a:ext uri="{9D8B030D-6E8A-4147-A177-3AD203B41FA5}">
                      <a16:colId xmlns:a16="http://schemas.microsoft.com/office/drawing/2014/main" val="2327118284"/>
                    </a:ext>
                  </a:extLst>
                </a:gridCol>
                <a:gridCol w="611326">
                  <a:extLst>
                    <a:ext uri="{9D8B030D-6E8A-4147-A177-3AD203B41FA5}">
                      <a16:colId xmlns:a16="http://schemas.microsoft.com/office/drawing/2014/main" val="3644177473"/>
                    </a:ext>
                  </a:extLst>
                </a:gridCol>
                <a:gridCol w="611326">
                  <a:extLst>
                    <a:ext uri="{9D8B030D-6E8A-4147-A177-3AD203B41FA5}">
                      <a16:colId xmlns:a16="http://schemas.microsoft.com/office/drawing/2014/main" val="3770086039"/>
                    </a:ext>
                  </a:extLst>
                </a:gridCol>
                <a:gridCol w="1192088">
                  <a:extLst>
                    <a:ext uri="{9D8B030D-6E8A-4147-A177-3AD203B41FA5}">
                      <a16:colId xmlns:a16="http://schemas.microsoft.com/office/drawing/2014/main" val="3703321640"/>
                    </a:ext>
                  </a:extLst>
                </a:gridCol>
                <a:gridCol w="504345">
                  <a:extLst>
                    <a:ext uri="{9D8B030D-6E8A-4147-A177-3AD203B41FA5}">
                      <a16:colId xmlns:a16="http://schemas.microsoft.com/office/drawing/2014/main" val="3302586241"/>
                    </a:ext>
                  </a:extLst>
                </a:gridCol>
                <a:gridCol w="504345">
                  <a:extLst>
                    <a:ext uri="{9D8B030D-6E8A-4147-A177-3AD203B41FA5}">
                      <a16:colId xmlns:a16="http://schemas.microsoft.com/office/drawing/2014/main" val="3739765989"/>
                    </a:ext>
                  </a:extLst>
                </a:gridCol>
                <a:gridCol w="519629">
                  <a:extLst>
                    <a:ext uri="{9D8B030D-6E8A-4147-A177-3AD203B41FA5}">
                      <a16:colId xmlns:a16="http://schemas.microsoft.com/office/drawing/2014/main" val="4003466916"/>
                    </a:ext>
                  </a:extLst>
                </a:gridCol>
              </a:tblGrid>
              <a:tr h="44113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Description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Average time for Line Clearance (</a:t>
                      </a:r>
                      <a:r>
                        <a:rPr lang="en-US" sz="1200" b="1" u="none" strike="noStrike" dirty="0" err="1">
                          <a:effectLst/>
                        </a:rPr>
                        <a:t>Mins</a:t>
                      </a:r>
                      <a:r>
                        <a:rPr lang="en-US" sz="1200" b="1" u="none" strike="noStrike" dirty="0">
                          <a:effectLst/>
                        </a:rPr>
                        <a:t>.)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Average time for Line closure (</a:t>
                      </a:r>
                      <a:r>
                        <a:rPr lang="en-US" sz="1200" b="1" u="none" strike="noStrike" dirty="0" err="1">
                          <a:effectLst/>
                        </a:rPr>
                        <a:t>Mins</a:t>
                      </a:r>
                      <a:r>
                        <a:rPr lang="en-US" sz="1200" b="1" u="none" strike="noStrike" dirty="0">
                          <a:effectLst/>
                        </a:rPr>
                        <a:t>.)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Average time for Line Re-Verification (</a:t>
                      </a:r>
                      <a:r>
                        <a:rPr lang="en-US" sz="1200" b="1" u="none" strike="noStrike" dirty="0" err="1">
                          <a:effectLst/>
                        </a:rPr>
                        <a:t>Mins</a:t>
                      </a:r>
                      <a:r>
                        <a:rPr lang="en-US" sz="1200" b="1" u="none" strike="noStrike" dirty="0">
                          <a:effectLst/>
                        </a:rPr>
                        <a:t>.)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101590"/>
                  </a:ext>
                </a:extLst>
              </a:tr>
              <a:tr h="4156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Jan to Aug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Sep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Oct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Nov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Jan to Aug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Sep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Oct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Nov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Jan to Aug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Sep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Oct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Nov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068474"/>
                  </a:ext>
                </a:extLst>
              </a:tr>
              <a:tr h="203601">
                <a:tc gridSpan="13">
                  <a:txBody>
                    <a:bodyPr/>
                    <a:lstStyle/>
                    <a:p>
                      <a:pPr lvl="1"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Assembly of Sixteen Bay PCR Machine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1"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491303"/>
                  </a:ext>
                </a:extLst>
              </a:tr>
              <a:tr h="241081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4x4 packing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3:09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4:09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5:09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4:11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3:02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5:11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46673"/>
                  </a:ext>
                </a:extLst>
              </a:tr>
              <a:tr h="241081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4x4 top and bottom cover assembly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4:08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6:12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5:08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6:11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7:10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6:11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2:04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3:02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2:04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732796"/>
                  </a:ext>
                </a:extLst>
              </a:tr>
              <a:tr h="241081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AFC Testing 4x4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3:08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4:13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5:08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</a:t>
                      </a: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:13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4:16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3:11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3:16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2:12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4:16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542612"/>
                  </a:ext>
                </a:extLst>
              </a:tr>
              <a:tr h="203601">
                <a:tc gridSpan="13">
                  <a:txBody>
                    <a:bodyPr/>
                    <a:lstStyle/>
                    <a:p>
                      <a:pPr marR="0" lvl="1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Assembly of extraction Device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259208"/>
                  </a:ext>
                </a:extLst>
              </a:tr>
              <a:tr h="246644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Top cover Assembly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6:07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5:54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29491"/>
                  </a:ext>
                </a:extLst>
              </a:tr>
              <a:tr h="241081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Mechanism assembly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108000"/>
                  </a:ext>
                </a:extLst>
              </a:tr>
              <a:tr h="241081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Wiring - Main Assembly area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7:02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5:43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8:01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8:08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US" sz="1400" b="0" i="0" u="none" strike="noStrike" cap="none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866656"/>
                  </a:ext>
                </a:extLst>
              </a:tr>
              <a:tr h="241081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Bottom cover 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6:44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6:22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7:05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US" sz="1400" b="0" i="0" u="none" strike="noStrike" cap="none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1816"/>
                  </a:ext>
                </a:extLst>
              </a:tr>
              <a:tr h="267223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Testing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7:00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5:01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5:39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US" sz="1400" b="0" i="0" u="none" strike="noStrike" cap="none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78258"/>
                  </a:ext>
                </a:extLst>
              </a:tr>
              <a:tr h="251670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Packing room 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6:22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:40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US" sz="1400" b="0" i="0" u="none" strike="noStrike" cap="none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641323"/>
                  </a:ext>
                </a:extLst>
              </a:tr>
              <a:tr h="33555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Eject Motor Sub Assembly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2:05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3:47 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055401"/>
                  </a:ext>
                </a:extLst>
              </a:tr>
              <a:tr h="260059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Valve Rotating Sub Assembly ASED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5:34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3:11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4:11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44649"/>
                  </a:ext>
                </a:extLst>
              </a:tr>
              <a:tr h="302004"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Fluid Nozzle Sub Assembly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5:53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4:05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6:14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4:18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30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068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g2eff481cfaf_2_18" descr="A red and white fla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1564"/>
            <a:ext cx="12290395" cy="6816436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2eff481cfaf_2_18"/>
          <p:cNvSpPr txBox="1"/>
          <p:nvPr/>
        </p:nvSpPr>
        <p:spPr>
          <a:xfrm>
            <a:off x="6466704" y="-171725"/>
            <a:ext cx="5609768" cy="129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r>
              <a:rPr lang="en-US" sz="4000" b="1" dirty="0">
                <a:solidFill>
                  <a:schemeClr val="bg1"/>
                </a:solidFill>
              </a:rPr>
              <a:t>       </a:t>
            </a:r>
            <a:r>
              <a:rPr lang="en-US" sz="2000" b="1" dirty="0" err="1">
                <a:solidFill>
                  <a:schemeClr val="bg1"/>
                </a:solidFill>
              </a:rPr>
              <a:t>Avg</a:t>
            </a:r>
            <a:r>
              <a:rPr lang="en-US" sz="2000" b="1" dirty="0">
                <a:solidFill>
                  <a:schemeClr val="bg1"/>
                </a:solidFill>
              </a:rPr>
              <a:t> time taken for </a:t>
            </a:r>
            <a:r>
              <a:rPr lang="en-US" sz="2400" b="1" dirty="0">
                <a:solidFill>
                  <a:schemeClr val="bg1"/>
                </a:solidFill>
              </a:rPr>
              <a:t>clearance/Closure/Re-verification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80" name="Google Shape;480;g2eff481cfaf_2_18"/>
          <p:cNvSpPr txBox="1"/>
          <p:nvPr/>
        </p:nvSpPr>
        <p:spPr>
          <a:xfrm>
            <a:off x="846825" y="4754200"/>
            <a:ext cx="10261200" cy="12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026" name="Picture 2" descr="https://ci3.googleusercontent.com/meips/ADKq_NYoWiyCxIBqXhvayEyoxq9RdqOFqxTu5zYVWWPmrNV2i6HjGtBI5ZIGmLgb8GS-P9z___3MejWcSMXcOtakV5I2Jx_qBa-jgUgiWCxeHnZMfcTzixwuqAXJ=s0-d-e1-ft#https://new.molbiodiagnostics.com/mailSignature/png/Molbio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57" y="91648"/>
            <a:ext cx="1517946" cy="76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771436"/>
              </p:ext>
            </p:extLst>
          </p:nvPr>
        </p:nvGraphicFramePr>
        <p:xfrm>
          <a:off x="436456" y="1431537"/>
          <a:ext cx="11631627" cy="48413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7392">
                  <a:extLst>
                    <a:ext uri="{9D8B030D-6E8A-4147-A177-3AD203B41FA5}">
                      <a16:colId xmlns:a16="http://schemas.microsoft.com/office/drawing/2014/main" val="3403088102"/>
                    </a:ext>
                  </a:extLst>
                </a:gridCol>
                <a:gridCol w="1300765">
                  <a:extLst>
                    <a:ext uri="{9D8B030D-6E8A-4147-A177-3AD203B41FA5}">
                      <a16:colId xmlns:a16="http://schemas.microsoft.com/office/drawing/2014/main" val="2198852673"/>
                    </a:ext>
                  </a:extLst>
                </a:gridCol>
                <a:gridCol w="611326">
                  <a:extLst>
                    <a:ext uri="{9D8B030D-6E8A-4147-A177-3AD203B41FA5}">
                      <a16:colId xmlns:a16="http://schemas.microsoft.com/office/drawing/2014/main" val="255904983"/>
                    </a:ext>
                  </a:extLst>
                </a:gridCol>
                <a:gridCol w="504345">
                  <a:extLst>
                    <a:ext uri="{9D8B030D-6E8A-4147-A177-3AD203B41FA5}">
                      <a16:colId xmlns:a16="http://schemas.microsoft.com/office/drawing/2014/main" val="3692524361"/>
                    </a:ext>
                  </a:extLst>
                </a:gridCol>
                <a:gridCol w="611326">
                  <a:extLst>
                    <a:ext uri="{9D8B030D-6E8A-4147-A177-3AD203B41FA5}">
                      <a16:colId xmlns:a16="http://schemas.microsoft.com/office/drawing/2014/main" val="1651240562"/>
                    </a:ext>
                  </a:extLst>
                </a:gridCol>
                <a:gridCol w="1192088">
                  <a:extLst>
                    <a:ext uri="{9D8B030D-6E8A-4147-A177-3AD203B41FA5}">
                      <a16:colId xmlns:a16="http://schemas.microsoft.com/office/drawing/2014/main" val="335068771"/>
                    </a:ext>
                  </a:extLst>
                </a:gridCol>
                <a:gridCol w="611326">
                  <a:extLst>
                    <a:ext uri="{9D8B030D-6E8A-4147-A177-3AD203B41FA5}">
                      <a16:colId xmlns:a16="http://schemas.microsoft.com/office/drawing/2014/main" val="2327118284"/>
                    </a:ext>
                  </a:extLst>
                </a:gridCol>
                <a:gridCol w="611326">
                  <a:extLst>
                    <a:ext uri="{9D8B030D-6E8A-4147-A177-3AD203B41FA5}">
                      <a16:colId xmlns:a16="http://schemas.microsoft.com/office/drawing/2014/main" val="3644177473"/>
                    </a:ext>
                  </a:extLst>
                </a:gridCol>
                <a:gridCol w="611326">
                  <a:extLst>
                    <a:ext uri="{9D8B030D-6E8A-4147-A177-3AD203B41FA5}">
                      <a16:colId xmlns:a16="http://schemas.microsoft.com/office/drawing/2014/main" val="3770086039"/>
                    </a:ext>
                  </a:extLst>
                </a:gridCol>
                <a:gridCol w="1192088">
                  <a:extLst>
                    <a:ext uri="{9D8B030D-6E8A-4147-A177-3AD203B41FA5}">
                      <a16:colId xmlns:a16="http://schemas.microsoft.com/office/drawing/2014/main" val="3703321640"/>
                    </a:ext>
                  </a:extLst>
                </a:gridCol>
                <a:gridCol w="504345">
                  <a:extLst>
                    <a:ext uri="{9D8B030D-6E8A-4147-A177-3AD203B41FA5}">
                      <a16:colId xmlns:a16="http://schemas.microsoft.com/office/drawing/2014/main" val="3302586241"/>
                    </a:ext>
                  </a:extLst>
                </a:gridCol>
                <a:gridCol w="504345">
                  <a:extLst>
                    <a:ext uri="{9D8B030D-6E8A-4147-A177-3AD203B41FA5}">
                      <a16:colId xmlns:a16="http://schemas.microsoft.com/office/drawing/2014/main" val="3739765989"/>
                    </a:ext>
                  </a:extLst>
                </a:gridCol>
                <a:gridCol w="519629">
                  <a:extLst>
                    <a:ext uri="{9D8B030D-6E8A-4147-A177-3AD203B41FA5}">
                      <a16:colId xmlns:a16="http://schemas.microsoft.com/office/drawing/2014/main" val="4003466916"/>
                    </a:ext>
                  </a:extLst>
                </a:gridCol>
              </a:tblGrid>
              <a:tr h="43514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Description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Average time for Line Clearance (</a:t>
                      </a:r>
                      <a:r>
                        <a:rPr lang="en-US" sz="1200" b="1" u="none" strike="noStrike" dirty="0" err="1">
                          <a:effectLst/>
                        </a:rPr>
                        <a:t>Mins</a:t>
                      </a:r>
                      <a:r>
                        <a:rPr lang="en-US" sz="1200" b="1" u="none" strike="noStrike" dirty="0">
                          <a:effectLst/>
                        </a:rPr>
                        <a:t>.)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Average time for Line closure (</a:t>
                      </a:r>
                      <a:r>
                        <a:rPr lang="en-US" sz="1200" b="1" u="none" strike="noStrike" dirty="0" err="1">
                          <a:effectLst/>
                        </a:rPr>
                        <a:t>Mins</a:t>
                      </a:r>
                      <a:r>
                        <a:rPr lang="en-US" sz="1200" b="1" u="none" strike="noStrike" dirty="0">
                          <a:effectLst/>
                        </a:rPr>
                        <a:t>.)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Average time for Line Re-Verification (</a:t>
                      </a:r>
                      <a:r>
                        <a:rPr lang="en-US" sz="1200" b="1" u="none" strike="noStrike" dirty="0" err="1">
                          <a:effectLst/>
                        </a:rPr>
                        <a:t>Mins</a:t>
                      </a:r>
                      <a:r>
                        <a:rPr lang="en-US" sz="1200" b="1" u="none" strike="noStrike" dirty="0">
                          <a:effectLst/>
                        </a:rPr>
                        <a:t>.)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101590"/>
                  </a:ext>
                </a:extLst>
              </a:tr>
              <a:tr h="4100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Jan to Aug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Sep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Oct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Nov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Jan to Aug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Sep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Oct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Nov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Jan to Aug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Sep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Oct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Nov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068474"/>
                  </a:ext>
                </a:extLst>
              </a:tr>
              <a:tr h="248044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CAM Sub Assembly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5:12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3:06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5:30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2:18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US" sz="1400" b="0" i="0" u="none" strike="noStrike" cap="none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46673"/>
                  </a:ext>
                </a:extLst>
              </a:tr>
              <a:tr h="248044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Sliding Block Sub Assembly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2:06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5:11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3:02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US" sz="1400" b="0" i="0" u="none" strike="noStrike" cap="none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698779"/>
                  </a:ext>
                </a:extLst>
              </a:tr>
              <a:tr h="248044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POKA-YOKA Plate SUB ASSEMBLY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3:06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2:09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US" sz="1400" b="0" i="0" u="none" strike="noStrike" cap="none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732796"/>
                  </a:ext>
                </a:extLst>
              </a:tr>
              <a:tr h="248044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Fixed Plate Sub Assembly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6:41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3:08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2:08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US" sz="1400" b="0" i="0" u="none" strike="noStrike" cap="none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542612"/>
                  </a:ext>
                </a:extLst>
              </a:tr>
              <a:tr h="248044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Locking Block Sub Assembly 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3:10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2:07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29491"/>
                  </a:ext>
                </a:extLst>
              </a:tr>
              <a:tr h="248044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Valve Motor -1 Sub Assembly 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3:24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5:39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2:06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108000"/>
                  </a:ext>
                </a:extLst>
              </a:tr>
              <a:tr h="248044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Peristaltic pump sub assembly 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2:09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3:46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3:07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US" sz="1400" b="0" i="0" u="none" strike="noStrike" cap="none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866656"/>
                  </a:ext>
                </a:extLst>
              </a:tr>
              <a:tr h="248044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filter sub assembly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2:06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3:09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1816"/>
                  </a:ext>
                </a:extLst>
              </a:tr>
              <a:tr h="263593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mechanism assembly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6:50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2:09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7:09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3:26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78258"/>
                  </a:ext>
                </a:extLst>
              </a:tr>
              <a:tr h="248251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Bottom cover assembly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4:46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4:21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4:03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6:13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641323"/>
                  </a:ext>
                </a:extLst>
              </a:tr>
              <a:tr h="248044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Wiring Assembly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6:30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3:09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4:54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5:08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055401"/>
                  </a:ext>
                </a:extLst>
              </a:tr>
              <a:tr h="248513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Heater testing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8:31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3:45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4:07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3:37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44649"/>
                  </a:ext>
                </a:extLst>
              </a:tr>
              <a:tr h="376567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Testing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9:46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5:20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5:03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4:09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US" sz="1400" b="0" i="0" u="none" strike="noStrike" cap="none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30581"/>
                  </a:ext>
                </a:extLst>
              </a:tr>
              <a:tr h="376567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vacuum nozzle sub assembly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4:02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US" sz="1400" b="0" i="0" u="none" strike="noStrike" cap="none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US" sz="1400" b="0" i="0" u="none" strike="noStrike" cap="none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US" sz="1400" b="0" i="0" u="none" strike="noStrike" cap="none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6:51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US" sz="1400" b="0" i="0" u="none" strike="noStrike" cap="none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US" sz="1400" b="0" i="0" u="none" strike="noStrike" cap="none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US" sz="1400" b="0" i="0" u="none" strike="noStrike" cap="none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US" sz="1400" b="0" i="0" u="none" strike="noStrike" cap="none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US" sz="1400" b="0" i="0" u="none" strike="noStrike" cap="none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53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817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g2eff481cfaf_2_18" descr="A red and white fla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1564"/>
            <a:ext cx="12290395" cy="6816436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2eff481cfaf_2_18"/>
          <p:cNvSpPr txBox="1"/>
          <p:nvPr/>
        </p:nvSpPr>
        <p:spPr>
          <a:xfrm>
            <a:off x="7088070" y="-270579"/>
            <a:ext cx="49884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lang="en-US" sz="4000" b="1" dirty="0">
              <a:solidFill>
                <a:schemeClr val="bg1"/>
              </a:solidFill>
            </a:endParaRPr>
          </a:p>
          <a:p>
            <a:r>
              <a:rPr lang="en-US" sz="40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Incident Data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80" name="Google Shape;480;g2eff481cfaf_2_18"/>
          <p:cNvSpPr txBox="1"/>
          <p:nvPr/>
        </p:nvSpPr>
        <p:spPr>
          <a:xfrm>
            <a:off x="846825" y="4754200"/>
            <a:ext cx="10261200" cy="12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026" name="Picture 2" descr="https://ci3.googleusercontent.com/meips/ADKq_NYoWiyCxIBqXhvayEyoxq9RdqOFqxTu5zYVWWPmrNV2i6HjGtBI5ZIGmLgb8GS-P9z___3MejWcSMXcOtakV5I2Jx_qBa-jgUgiWCxeHnZMfcTzixwuqAXJ=s0-d-e1-ft#https://new.molbiodiagnostics.com/mailSignature/png/Molbio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57" y="91648"/>
            <a:ext cx="1517946" cy="76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987280"/>
              </p:ext>
            </p:extLst>
          </p:nvPr>
        </p:nvGraphicFramePr>
        <p:xfrm>
          <a:off x="360215" y="1419835"/>
          <a:ext cx="11716255" cy="48978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43251">
                  <a:extLst>
                    <a:ext uri="{9D8B030D-6E8A-4147-A177-3AD203B41FA5}">
                      <a16:colId xmlns:a16="http://schemas.microsoft.com/office/drawing/2014/main" val="2301664060"/>
                    </a:ext>
                  </a:extLst>
                </a:gridCol>
                <a:gridCol w="2343251">
                  <a:extLst>
                    <a:ext uri="{9D8B030D-6E8A-4147-A177-3AD203B41FA5}">
                      <a16:colId xmlns:a16="http://schemas.microsoft.com/office/drawing/2014/main" val="1526293150"/>
                    </a:ext>
                  </a:extLst>
                </a:gridCol>
                <a:gridCol w="2343251">
                  <a:extLst>
                    <a:ext uri="{9D8B030D-6E8A-4147-A177-3AD203B41FA5}">
                      <a16:colId xmlns:a16="http://schemas.microsoft.com/office/drawing/2014/main" val="2656278828"/>
                    </a:ext>
                  </a:extLst>
                </a:gridCol>
                <a:gridCol w="2343251">
                  <a:extLst>
                    <a:ext uri="{9D8B030D-6E8A-4147-A177-3AD203B41FA5}">
                      <a16:colId xmlns:a16="http://schemas.microsoft.com/office/drawing/2014/main" val="1376877848"/>
                    </a:ext>
                  </a:extLst>
                </a:gridCol>
                <a:gridCol w="2343251">
                  <a:extLst>
                    <a:ext uri="{9D8B030D-6E8A-4147-A177-3AD203B41FA5}">
                      <a16:colId xmlns:a16="http://schemas.microsoft.com/office/drawing/2014/main" val="1163508877"/>
                    </a:ext>
                  </a:extLst>
                </a:gridCol>
              </a:tblGrid>
              <a:tr h="376757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Incident data from Jan-2025 To Nov-2025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119060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Sr No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Month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Minor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Major 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Critical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264270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01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Jan-25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7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780312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Feb-25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12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03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445495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03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Mar-25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20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01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01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477085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04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Apr-25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04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482006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May-25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06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01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278123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06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Jun-25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01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0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139334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07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Jul-25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01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490938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08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Aug-25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04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53562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09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Sep-25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7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500587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10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Oct-25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05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053010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11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Nov-25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06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0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0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619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067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g2eff481cfaf_2_18" descr="A red and white fla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9" y="0"/>
            <a:ext cx="12290395" cy="6816436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2eff481cfaf_2_18"/>
          <p:cNvSpPr txBox="1"/>
          <p:nvPr/>
        </p:nvSpPr>
        <p:spPr>
          <a:xfrm>
            <a:off x="5478361" y="-31799"/>
            <a:ext cx="6713639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600" dirty="0">
              <a:solidFill>
                <a:schemeClr val="dk1"/>
              </a:solidFill>
            </a:endParaRPr>
          </a:p>
          <a:p>
            <a:r>
              <a:rPr lang="en-US" sz="4400" b="1" dirty="0">
                <a:solidFill>
                  <a:schemeClr val="bg1"/>
                </a:solidFill>
              </a:rPr>
              <a:t>       </a:t>
            </a:r>
            <a:r>
              <a:rPr lang="en-US" sz="2800" b="1" dirty="0">
                <a:solidFill>
                  <a:schemeClr val="bg1"/>
                </a:solidFill>
              </a:rPr>
              <a:t>Calibration data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80" name="Google Shape;480;g2eff481cfaf_2_18"/>
          <p:cNvSpPr txBox="1"/>
          <p:nvPr/>
        </p:nvSpPr>
        <p:spPr>
          <a:xfrm>
            <a:off x="846825" y="4754200"/>
            <a:ext cx="10261200" cy="12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026" name="Picture 2" descr="https://ci3.googleusercontent.com/meips/ADKq_NYoWiyCxIBqXhvayEyoxq9RdqOFqxTu5zYVWWPmrNV2i6HjGtBI5ZIGmLgb8GS-P9z___3MejWcSMXcOtakV5I2Jx_qBa-jgUgiWCxeHnZMfcTzixwuqAXJ=s0-d-e1-ft#https://new.molbiodiagnostics.com/mailSignature/png/Molbio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57" y="91648"/>
            <a:ext cx="1517946" cy="76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38BAC3-93AF-201E-6A37-D5FACF61C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00632"/>
              </p:ext>
            </p:extLst>
          </p:nvPr>
        </p:nvGraphicFramePr>
        <p:xfrm>
          <a:off x="1732667" y="1592218"/>
          <a:ext cx="5182694" cy="1752343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477888">
                  <a:extLst>
                    <a:ext uri="{9D8B030D-6E8A-4147-A177-3AD203B41FA5}">
                      <a16:colId xmlns:a16="http://schemas.microsoft.com/office/drawing/2014/main" val="337399484"/>
                    </a:ext>
                  </a:extLst>
                </a:gridCol>
                <a:gridCol w="827138">
                  <a:extLst>
                    <a:ext uri="{9D8B030D-6E8A-4147-A177-3AD203B41FA5}">
                      <a16:colId xmlns:a16="http://schemas.microsoft.com/office/drawing/2014/main" val="1279832347"/>
                    </a:ext>
                  </a:extLst>
                </a:gridCol>
                <a:gridCol w="1177976">
                  <a:extLst>
                    <a:ext uri="{9D8B030D-6E8A-4147-A177-3AD203B41FA5}">
                      <a16:colId xmlns:a16="http://schemas.microsoft.com/office/drawing/2014/main" val="1910632586"/>
                    </a:ext>
                  </a:extLst>
                </a:gridCol>
                <a:gridCol w="908100">
                  <a:extLst>
                    <a:ext uri="{9D8B030D-6E8A-4147-A177-3AD203B41FA5}">
                      <a16:colId xmlns:a16="http://schemas.microsoft.com/office/drawing/2014/main" val="2279889083"/>
                    </a:ext>
                  </a:extLst>
                </a:gridCol>
                <a:gridCol w="1120826">
                  <a:extLst>
                    <a:ext uri="{9D8B030D-6E8A-4147-A177-3AD203B41FA5}">
                      <a16:colId xmlns:a16="http://schemas.microsoft.com/office/drawing/2014/main" val="3576203090"/>
                    </a:ext>
                  </a:extLst>
                </a:gridCol>
                <a:gridCol w="670766">
                  <a:extLst>
                    <a:ext uri="{9D8B030D-6E8A-4147-A177-3AD203B41FA5}">
                      <a16:colId xmlns:a16="http://schemas.microsoft.com/office/drawing/2014/main" val="241187138"/>
                    </a:ext>
                  </a:extLst>
                </a:gridCol>
              </a:tblGrid>
              <a:tr h="102290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July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169" marR="7169" marT="7169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August 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169" marR="7169" marT="7169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September 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169" marR="7169" marT="7169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October 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169" marR="7169" marT="7169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November 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169" marR="7169" marT="7169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 Qty (Nos)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169" marR="7169" marT="7169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97161"/>
                  </a:ext>
                </a:extLst>
              </a:tr>
              <a:tr h="72944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dirty="0">
                          <a:effectLst/>
                        </a:rPr>
                        <a:t>28</a:t>
                      </a: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dirty="0">
                          <a:effectLst/>
                        </a:rPr>
                        <a:t>6</a:t>
                      </a: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dirty="0">
                          <a:effectLst/>
                        </a:rPr>
                        <a:t>48</a:t>
                      </a: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dirty="0">
                          <a:effectLst/>
                        </a:rPr>
                        <a:t>5</a:t>
                      </a: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dirty="0">
                          <a:effectLst/>
                        </a:rPr>
                        <a:t>19</a:t>
                      </a: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>
                          <a:effectLst/>
                        </a:rPr>
                        <a:t>106</a:t>
                      </a: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65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1873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g2eff481cfaf_2_18" descr="A red and white fla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1564"/>
            <a:ext cx="12290395" cy="6816436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2eff481cfaf_2_18"/>
          <p:cNvSpPr txBox="1"/>
          <p:nvPr/>
        </p:nvSpPr>
        <p:spPr>
          <a:xfrm>
            <a:off x="6359611" y="41564"/>
            <a:ext cx="5593293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r>
              <a:rPr lang="en-US" sz="4000" b="1" dirty="0">
                <a:solidFill>
                  <a:schemeClr val="bg1"/>
                </a:solidFill>
              </a:rPr>
              <a:t>       </a:t>
            </a:r>
            <a:r>
              <a:rPr lang="en-US" sz="2400" b="1" dirty="0">
                <a:solidFill>
                  <a:schemeClr val="bg1"/>
                </a:solidFill>
              </a:rPr>
              <a:t>New Process Implementation 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480" name="Google Shape;480;g2eff481cfaf_2_18"/>
          <p:cNvSpPr txBox="1"/>
          <p:nvPr/>
        </p:nvSpPr>
        <p:spPr>
          <a:xfrm>
            <a:off x="846825" y="4754200"/>
            <a:ext cx="10261200" cy="12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026" name="Picture 2" descr="https://ci3.googleusercontent.com/meips/ADKq_NYoWiyCxIBqXhvayEyoxq9RdqOFqxTu5zYVWWPmrNV2i6HjGtBI5ZIGmLgb8GS-P9z___3MejWcSMXcOtakV5I2Jx_qBa-jgUgiWCxeHnZMfcTzixwuqAXJ=s0-d-e1-ft#https://new.molbiodiagnostics.com/mailSignature/png/Molbio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57" y="91648"/>
            <a:ext cx="1517946" cy="76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4"/>
          <p:cNvSpPr>
            <a:spLocks noGrp="1"/>
          </p:cNvSpPr>
          <p:nvPr>
            <p:ph type="subTitle" idx="1"/>
          </p:nvPr>
        </p:nvSpPr>
        <p:spPr>
          <a:xfrm>
            <a:off x="227788" y="1360466"/>
            <a:ext cx="11499273" cy="4779819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New Process Implementation – Site III </a:t>
            </a:r>
            <a:endParaRPr lang="en-IN" b="1" dirty="0">
              <a:solidFill>
                <a:srgbClr val="FF0000"/>
              </a:solidFill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Monthly meeting with MG and MN on rejections/challenges –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Reduced in process rejections from existing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4 to 2.5%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 cartridge and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rework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happening for metal enclosures of Duo and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Quatro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Observation meeting on shop floor for every 15 days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– Reduction of repetitive NC’s by 50 %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Work instructions in the production floor –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Better and easy understanding of work flow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Re-Work area implemented (Line-Wise) –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Mix up of cartridges avoided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Implementation of Particle count testing -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Proactive measure to avoid the dust – IQC modification</a:t>
            </a:r>
            <a:endParaRPr lang="en-IN" b="1" dirty="0">
              <a:solidFill>
                <a:schemeClr val="accent6">
                  <a:lumMod val="75000"/>
                </a:schemeClr>
              </a:solidFill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In the QR pasting activity, segregation of tables has been done to prevent cartridge mix-up –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Mitigation of repetitive incident.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The pictorial representation has been implemented –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For awareness of repetitive defects</a:t>
            </a:r>
            <a:endParaRPr lang="en-US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Change control tracking sheet –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For clear understating of activities and planning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Defect rate set for each stage –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Implemented for Cartridge </a:t>
            </a:r>
            <a:r>
              <a:rPr lang="en-US" b="1" dirty="0">
                <a:solidFill>
                  <a:srgbClr val="FFC000"/>
                </a:solidFill>
              </a:rPr>
              <a:t>and in progress for Device</a:t>
            </a:r>
          </a:p>
          <a:p>
            <a:pPr marL="336550" indent="-285750" algn="l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Limit sample register </a:t>
            </a:r>
            <a:r>
              <a:rPr lang="en-US" b="1" dirty="0">
                <a:solidFill>
                  <a:srgbClr val="9EAE28"/>
                </a:solidFill>
              </a:rPr>
              <a:t>– CC Under progress</a:t>
            </a:r>
          </a:p>
          <a:p>
            <a:pPr marL="336550" indent="-285750" algn="l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QR scanning software has to introduced to ensure proper line-wise identification and to eliminate cartridge/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mould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mix-up – </a:t>
            </a:r>
            <a:r>
              <a:rPr lang="en-US" b="1" dirty="0">
                <a:solidFill>
                  <a:srgbClr val="9EAE28"/>
                </a:solidFill>
              </a:rPr>
              <a:t>Under Progress</a:t>
            </a:r>
          </a:p>
        </p:txBody>
      </p:sp>
    </p:spTree>
    <p:extLst>
      <p:ext uri="{BB962C8B-B14F-4D97-AF65-F5344CB8AC3E}">
        <p14:creationId xmlns:p14="http://schemas.microsoft.com/office/powerpoint/2010/main" val="1754210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2768</TotalTime>
  <Words>1373</Words>
  <Application>Microsoft Office PowerPoint</Application>
  <PresentationFormat>Widescreen</PresentationFormat>
  <Paragraphs>869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Wingdings</vt:lpstr>
      <vt:lpstr>Arial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Raja Kandivalasa S</dc:creator>
  <cp:lastModifiedBy>Naveen Kumar</cp:lastModifiedBy>
  <cp:revision>217</cp:revision>
  <dcterms:created xsi:type="dcterms:W3CDTF">2024-07-31T06:44:52Z</dcterms:created>
  <dcterms:modified xsi:type="dcterms:W3CDTF">2025-12-05T12:19:02Z</dcterms:modified>
</cp:coreProperties>
</file>